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0" r:id="rId1"/>
  </p:sldMasterIdLst>
  <p:sldIdLst>
    <p:sldId id="256" r:id="rId2"/>
    <p:sldId id="259" r:id="rId3"/>
    <p:sldId id="257" r:id="rId4"/>
    <p:sldId id="260" r:id="rId5"/>
    <p:sldId id="261" r:id="rId6"/>
    <p:sldId id="264" r:id="rId7"/>
    <p:sldId id="263" r:id="rId8"/>
    <p:sldId id="262" r:id="rId9"/>
    <p:sldId id="258" r:id="rId10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2C4689-DE38-99BA-ABBD-F0FF321B1EC8}" v="387" dt="2026-01-12T19:13:07.591"/>
    <p1510:client id="{9AFFC18C-E80A-B57F-6773-92E93931602E}" v="183" dt="2026-01-12T20:10:51.8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92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076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50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6323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947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438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00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63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36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90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216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993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2333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266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1/12/2026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3580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33" r:id="rId13"/>
    <p:sldLayoutId id="2147483834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97EA66B-2AAB-42B0-9F9D-38920D8D8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810001" y="847485"/>
            <a:ext cx="10572000" cy="2189254"/>
          </a:xfrm>
          <a:effectLst/>
        </p:spPr>
        <p:txBody>
          <a:bodyPr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pl-PL" sz="5000">
                <a:solidFill>
                  <a:schemeClr val="tx1"/>
                </a:solidFill>
              </a:rPr>
              <a:t>Aplikacja do dokumentowania wizyt u lekarza i przeglądania historii pacjenta.</a:t>
            </a:r>
            <a:endParaRPr lang="pl-PL" sz="50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810001" y="2270730"/>
            <a:ext cx="10572000" cy="1881172"/>
          </a:xfrm>
          <a:effectLst/>
        </p:spPr>
        <p:txBody>
          <a:bodyPr anchor="b">
            <a:normAutofit/>
          </a:bodyPr>
          <a:lstStyle/>
          <a:p>
            <a:pPr algn="ctr"/>
            <a:r>
              <a:rPr lang="pl-PL" sz="2000"/>
              <a:t>Marcin Rycek i inni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60EBE3-31BB-422F-AA87-FA3873DAE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0800000">
            <a:off x="0" y="5388384"/>
            <a:ext cx="12192000" cy="1469616"/>
          </a:xfrm>
          <a:custGeom>
            <a:avLst/>
            <a:gdLst>
              <a:gd name="connsiteX0" fmla="*/ 6113881 w 12192000"/>
              <a:gd name="connsiteY0" fmla="*/ 1469616 h 1469616"/>
              <a:gd name="connsiteX1" fmla="*/ 6101181 w 12192000"/>
              <a:gd name="connsiteY1" fmla="*/ 1469616 h 1469616"/>
              <a:gd name="connsiteX2" fmla="*/ 6090598 w 12192000"/>
              <a:gd name="connsiteY2" fmla="*/ 1469616 h 1469616"/>
              <a:gd name="connsiteX3" fmla="*/ 6077897 w 12192000"/>
              <a:gd name="connsiteY3" fmla="*/ 1464854 h 1469616"/>
              <a:gd name="connsiteX4" fmla="*/ 6065198 w 12192000"/>
              <a:gd name="connsiteY4" fmla="*/ 1460091 h 1469616"/>
              <a:gd name="connsiteX5" fmla="*/ 6056731 w 12192000"/>
              <a:gd name="connsiteY5" fmla="*/ 1456916 h 1469616"/>
              <a:gd name="connsiteX6" fmla="*/ 5678033 w 12192000"/>
              <a:gd name="connsiteY6" fmla="*/ 1172892 h 1469616"/>
              <a:gd name="connsiteX7" fmla="*/ 0 w 12192000"/>
              <a:gd name="connsiteY7" fmla="*/ 1172892 h 1469616"/>
              <a:gd name="connsiteX8" fmla="*/ 0 w 12192000"/>
              <a:gd name="connsiteY8" fmla="*/ 1162370 h 1469616"/>
              <a:gd name="connsiteX9" fmla="*/ 0 w 12192000"/>
              <a:gd name="connsiteY9" fmla="*/ 403347 h 1469616"/>
              <a:gd name="connsiteX10" fmla="*/ 0 w 12192000"/>
              <a:gd name="connsiteY10" fmla="*/ 0 h 1469616"/>
              <a:gd name="connsiteX11" fmla="*/ 12192000 w 12192000"/>
              <a:gd name="connsiteY11" fmla="*/ 0 h 1469616"/>
              <a:gd name="connsiteX12" fmla="*/ 12192000 w 12192000"/>
              <a:gd name="connsiteY12" fmla="*/ 403347 h 1469616"/>
              <a:gd name="connsiteX13" fmla="*/ 12192000 w 12192000"/>
              <a:gd name="connsiteY13" fmla="*/ 1162370 h 1469616"/>
              <a:gd name="connsiteX14" fmla="*/ 12192000 w 12192000"/>
              <a:gd name="connsiteY14" fmla="*/ 1172892 h 1469616"/>
              <a:gd name="connsiteX15" fmla="*/ 6524330 w 12192000"/>
              <a:gd name="connsiteY15" fmla="*/ 1172892 h 1469616"/>
              <a:gd name="connsiteX16" fmla="*/ 6145631 w 12192000"/>
              <a:gd name="connsiteY16" fmla="*/ 1456916 h 1469616"/>
              <a:gd name="connsiteX17" fmla="*/ 6137163 w 12192000"/>
              <a:gd name="connsiteY17" fmla="*/ 1460091 h 1469616"/>
              <a:gd name="connsiteX18" fmla="*/ 6124463 w 12192000"/>
              <a:gd name="connsiteY18" fmla="*/ 1464854 h 146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192000" h="1469616">
                <a:moveTo>
                  <a:pt x="6113881" y="1469616"/>
                </a:moveTo>
                <a:lnTo>
                  <a:pt x="6101181" y="1469616"/>
                </a:lnTo>
                <a:lnTo>
                  <a:pt x="6090598" y="1469616"/>
                </a:lnTo>
                <a:lnTo>
                  <a:pt x="6077897" y="1464854"/>
                </a:lnTo>
                <a:lnTo>
                  <a:pt x="6065198" y="1460091"/>
                </a:lnTo>
                <a:lnTo>
                  <a:pt x="6056731" y="1456916"/>
                </a:lnTo>
                <a:lnTo>
                  <a:pt x="5678033" y="1172892"/>
                </a:lnTo>
                <a:lnTo>
                  <a:pt x="0" y="1172892"/>
                </a:lnTo>
                <a:lnTo>
                  <a:pt x="0" y="1162370"/>
                </a:lnTo>
                <a:lnTo>
                  <a:pt x="0" y="403347"/>
                </a:lnTo>
                <a:lnTo>
                  <a:pt x="0" y="0"/>
                </a:lnTo>
                <a:lnTo>
                  <a:pt x="12192000" y="0"/>
                </a:lnTo>
                <a:lnTo>
                  <a:pt x="12192000" y="403347"/>
                </a:lnTo>
                <a:lnTo>
                  <a:pt x="12192000" y="1162370"/>
                </a:lnTo>
                <a:lnTo>
                  <a:pt x="12192000" y="1172892"/>
                </a:lnTo>
                <a:lnTo>
                  <a:pt x="6524330" y="1172892"/>
                </a:lnTo>
                <a:lnTo>
                  <a:pt x="6145631" y="1456916"/>
                </a:lnTo>
                <a:lnTo>
                  <a:pt x="6137163" y="1460091"/>
                </a:lnTo>
                <a:lnTo>
                  <a:pt x="6124463" y="1464854"/>
                </a:lnTo>
                <a:close/>
              </a:path>
            </a:pathLst>
          </a:custGeom>
          <a:ln>
            <a:noFill/>
          </a:ln>
          <a:effectLst/>
          <a:extLst>
            <a:ext uri="{91240B29-F687-4f45-9708-019B960494DF}">
              <a14:hiddenLine xmlns:a14="http://schemas.microsoft.com/office/drawing/2010/main" xmlns:p14="http://schemas.microsoft.com/office/powerpoint/2010/main" xmlns:a16="http://schemas.microsoft.com/office/drawing/2014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93488DF-D957-5B85-2B89-5852D61D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Motywacja: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833246F-6E48-043E-BE3F-CA7E7F07B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>
                <a:ea typeface="+mn-lt"/>
                <a:cs typeface="+mn-lt"/>
              </a:rPr>
              <a:t>W </a:t>
            </a:r>
            <a:r>
              <a:rPr lang="en-US" sz="1400" err="1">
                <a:ea typeface="+mn-lt"/>
                <a:cs typeface="+mn-lt"/>
              </a:rPr>
              <a:t>wielu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placówkach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medycznych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dokumentacja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wizyt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wyników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badań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bywa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rozproszona</a:t>
            </a:r>
            <a:r>
              <a:rPr lang="en-US" sz="1400">
                <a:ea typeface="+mn-lt"/>
                <a:cs typeface="+mn-lt"/>
              </a:rPr>
              <a:t> (</a:t>
            </a:r>
            <a:r>
              <a:rPr lang="en-US" sz="1400" err="1">
                <a:ea typeface="+mn-lt"/>
                <a:cs typeface="+mn-lt"/>
              </a:rPr>
              <a:t>różne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systemy</a:t>
            </a:r>
            <a:r>
              <a:rPr lang="en-US" sz="1400">
                <a:ea typeface="+mn-lt"/>
                <a:cs typeface="+mn-lt"/>
              </a:rPr>
              <a:t>, </a:t>
            </a:r>
            <a:r>
              <a:rPr lang="en-US" sz="1400" err="1">
                <a:ea typeface="+mn-lt"/>
                <a:cs typeface="+mn-lt"/>
              </a:rPr>
              <a:t>papierowe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dokumenty</a:t>
            </a:r>
            <a:r>
              <a:rPr lang="en-US" sz="1400">
                <a:ea typeface="+mn-lt"/>
                <a:cs typeface="+mn-lt"/>
              </a:rPr>
              <a:t>), co </a:t>
            </a:r>
            <a:r>
              <a:rPr lang="en-US" sz="1400" err="1">
                <a:ea typeface="+mn-lt"/>
                <a:cs typeface="+mn-lt"/>
              </a:rPr>
              <a:t>utrudnia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szybki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dostęp</a:t>
            </a:r>
            <a:r>
              <a:rPr lang="en-US" sz="1400">
                <a:ea typeface="+mn-lt"/>
                <a:cs typeface="+mn-lt"/>
              </a:rPr>
              <a:t> do </a:t>
            </a:r>
            <a:r>
              <a:rPr lang="en-US" sz="1400" err="1">
                <a:ea typeface="+mn-lt"/>
                <a:cs typeface="+mn-lt"/>
              </a:rPr>
              <a:t>historii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leczenia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zwiększa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ryzyko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pomyłek</a:t>
            </a:r>
            <a:r>
              <a:rPr lang="en-US" sz="1400">
                <a:ea typeface="+mn-lt"/>
                <a:cs typeface="+mn-lt"/>
              </a:rPr>
              <a:t>. </a:t>
            </a:r>
            <a:r>
              <a:rPr lang="en-US" sz="1400" err="1">
                <a:ea typeface="+mn-lt"/>
                <a:cs typeface="+mn-lt"/>
              </a:rPr>
              <a:t>Pacjenci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nie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mają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wygodnego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wglądu</a:t>
            </a:r>
            <a:r>
              <a:rPr lang="en-US" sz="1400">
                <a:ea typeface="+mn-lt"/>
                <a:cs typeface="+mn-lt"/>
              </a:rPr>
              <a:t> w </a:t>
            </a:r>
            <a:r>
              <a:rPr lang="en-US" sz="1400" err="1">
                <a:ea typeface="+mn-lt"/>
                <a:cs typeface="+mn-lt"/>
              </a:rPr>
              <a:t>swoje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historie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wizyt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czy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zalecenia</a:t>
            </a:r>
            <a:r>
              <a:rPr lang="en-US" sz="1400">
                <a:ea typeface="+mn-lt"/>
                <a:cs typeface="+mn-lt"/>
              </a:rPr>
              <a:t>.</a:t>
            </a:r>
            <a:endParaRPr lang="pl-PL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400">
                <a:ea typeface="+mn-lt"/>
                <a:cs typeface="+mn-lt"/>
              </a:rPr>
              <a:t>Celem </a:t>
            </a:r>
            <a:r>
              <a:rPr lang="en-US" sz="1400" err="1">
                <a:ea typeface="+mn-lt"/>
                <a:cs typeface="+mn-lt"/>
              </a:rPr>
              <a:t>projektu</a:t>
            </a:r>
            <a:r>
              <a:rPr lang="en-US" sz="1400">
                <a:ea typeface="+mn-lt"/>
                <a:cs typeface="+mn-lt"/>
              </a:rPr>
              <a:t> jest </a:t>
            </a:r>
            <a:r>
              <a:rPr lang="en-US" sz="1400" err="1">
                <a:ea typeface="+mn-lt"/>
                <a:cs typeface="+mn-lt"/>
              </a:rPr>
              <a:t>stworzenie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jednej</a:t>
            </a:r>
            <a:r>
              <a:rPr lang="en-US" sz="1400">
                <a:ea typeface="+mn-lt"/>
                <a:cs typeface="+mn-lt"/>
              </a:rPr>
              <a:t>, </a:t>
            </a:r>
            <a:r>
              <a:rPr lang="en-US" sz="1400" err="1">
                <a:ea typeface="+mn-lt"/>
                <a:cs typeface="+mn-lt"/>
              </a:rPr>
              <a:t>prostej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aplikacji</a:t>
            </a:r>
            <a:r>
              <a:rPr lang="en-US" sz="1400">
                <a:ea typeface="+mn-lt"/>
                <a:cs typeface="+mn-lt"/>
              </a:rPr>
              <a:t>, </a:t>
            </a:r>
            <a:r>
              <a:rPr lang="en-US" sz="1400" err="1">
                <a:ea typeface="+mn-lt"/>
                <a:cs typeface="+mn-lt"/>
              </a:rPr>
              <a:t>która</a:t>
            </a:r>
            <a:r>
              <a:rPr lang="en-US" sz="1400">
                <a:ea typeface="+mn-lt"/>
                <a:cs typeface="+mn-lt"/>
              </a:rPr>
              <a:t>:</a:t>
            </a:r>
            <a:endParaRPr lang="en-US"/>
          </a:p>
          <a:p>
            <a:pPr marL="285750" indent="-285750"/>
            <a:r>
              <a:rPr lang="en-US" sz="1400" dirty="0" err="1">
                <a:ea typeface="+mn-lt"/>
                <a:cs typeface="+mn-lt"/>
              </a:rPr>
              <a:t>umożliwia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pacjentowi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łatwe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przeglądanie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historii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wizyt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i</a:t>
            </a:r>
            <a:r>
              <a:rPr lang="en-US" sz="1400" dirty="0">
                <a:ea typeface="+mn-lt"/>
                <a:cs typeface="+mn-lt"/>
              </a:rPr>
              <a:t> </a:t>
            </a:r>
            <a:r>
              <a:rPr lang="en-US" sz="1400" dirty="0" err="1">
                <a:ea typeface="+mn-lt"/>
                <a:cs typeface="+mn-lt"/>
              </a:rPr>
              <a:t>wyników</a:t>
            </a:r>
            <a:r>
              <a:rPr lang="en-US" sz="1400" dirty="0">
                <a:ea typeface="+mn-lt"/>
                <a:cs typeface="+mn-lt"/>
              </a:rPr>
              <a:t> po </a:t>
            </a:r>
            <a:r>
              <a:rPr lang="en-US" sz="1400" dirty="0" err="1">
                <a:ea typeface="+mn-lt"/>
                <a:cs typeface="+mn-lt"/>
              </a:rPr>
              <a:t>zalogowaniu</a:t>
            </a:r>
            <a:endParaRPr lang="en-US" sz="1400" dirty="0">
              <a:ea typeface="+mn-lt"/>
              <a:cs typeface="+mn-lt"/>
            </a:endParaRPr>
          </a:p>
          <a:p>
            <a:pPr marL="285750" indent="-285750"/>
            <a:r>
              <a:rPr lang="en-US" sz="1400" err="1">
                <a:ea typeface="+mn-lt"/>
                <a:cs typeface="+mn-lt"/>
              </a:rPr>
              <a:t>pozwala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lekarzowi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szybko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odnaleźć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dane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pacjenta</a:t>
            </a:r>
            <a:r>
              <a:rPr lang="en-US" sz="1400">
                <a:ea typeface="+mn-lt"/>
                <a:cs typeface="+mn-lt"/>
              </a:rPr>
              <a:t> po </a:t>
            </a:r>
            <a:r>
              <a:rPr lang="en-US" sz="1400" err="1">
                <a:ea typeface="+mn-lt"/>
                <a:cs typeface="+mn-lt"/>
              </a:rPr>
              <a:t>wpisaniu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jego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kodu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przeanalizować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historię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chorób</a:t>
            </a:r>
            <a:r>
              <a:rPr lang="en-US" sz="1400">
                <a:ea typeface="+mn-lt"/>
                <a:cs typeface="+mn-lt"/>
              </a:rPr>
              <a:t> </a:t>
            </a:r>
            <a:r>
              <a:rPr lang="en-US" sz="1400" err="1">
                <a:ea typeface="+mn-lt"/>
                <a:cs typeface="+mn-lt"/>
              </a:rPr>
              <a:t>Pacjenta</a:t>
            </a:r>
            <a:r>
              <a:rPr lang="en-US" sz="1400">
                <a:ea typeface="+mn-lt"/>
                <a:cs typeface="+mn-lt"/>
              </a:rPr>
              <a:t> </a:t>
            </a:r>
          </a:p>
          <a:p>
            <a:pPr marL="285750" indent="-285750"/>
            <a:r>
              <a:rPr lang="en-US" sz="1400" err="1">
                <a:ea typeface="+mn-lt"/>
                <a:cs typeface="+mn-lt"/>
              </a:rPr>
              <a:t>daje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laborantowi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możliwość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szybkiego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dodawania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wyników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badań</a:t>
            </a:r>
            <a:r>
              <a:rPr lang="en-US" sz="1400">
                <a:ea typeface="+mn-lt"/>
                <a:cs typeface="+mn-lt"/>
              </a:rPr>
              <a:t> 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400" err="1">
                <a:ea typeface="+mn-lt"/>
                <a:cs typeface="+mn-lt"/>
              </a:rPr>
              <a:t>Dzięki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temu</a:t>
            </a:r>
            <a:r>
              <a:rPr lang="en-US" sz="1400">
                <a:ea typeface="+mn-lt"/>
                <a:cs typeface="+mn-lt"/>
              </a:rPr>
              <a:t> system </a:t>
            </a:r>
            <a:r>
              <a:rPr lang="en-US" sz="1400" err="1">
                <a:ea typeface="+mn-lt"/>
                <a:cs typeface="+mn-lt"/>
              </a:rPr>
              <a:t>usprawnia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pracę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personelu</a:t>
            </a:r>
            <a:r>
              <a:rPr lang="en-US" sz="1400">
                <a:ea typeface="+mn-lt"/>
                <a:cs typeface="+mn-lt"/>
              </a:rPr>
              <a:t>, </a:t>
            </a:r>
            <a:r>
              <a:rPr lang="en-US" sz="1400" err="1">
                <a:ea typeface="+mn-lt"/>
                <a:cs typeface="+mn-lt"/>
              </a:rPr>
              <a:t>poprawia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organizację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danych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zwiększa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dostępność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informacji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medycznych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dla</a:t>
            </a:r>
            <a:r>
              <a:rPr lang="en-US" sz="1400">
                <a:ea typeface="+mn-lt"/>
                <a:cs typeface="+mn-lt"/>
              </a:rPr>
              <a:t> </a:t>
            </a:r>
            <a:r>
              <a:rPr lang="en-US" sz="1400" err="1">
                <a:ea typeface="+mn-lt"/>
                <a:cs typeface="+mn-lt"/>
              </a:rPr>
              <a:t>Pacjentów</a:t>
            </a:r>
            <a:r>
              <a:rPr lang="en-US" sz="1400">
                <a:ea typeface="+mn-lt"/>
                <a:cs typeface="+mn-lt"/>
              </a:rPr>
              <a:t>.</a:t>
            </a:r>
            <a:endParaRPr lang="en-US">
              <a:ea typeface="+mn-lt"/>
              <a:cs typeface="+mn-lt"/>
            </a:endParaRPr>
          </a:p>
          <a:p>
            <a:pPr marL="285750" indent="-285750">
              <a:lnSpc>
                <a:spcPct val="90000"/>
              </a:lnSpc>
            </a:pP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209912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8">
            <a:extLst>
              <a:ext uri="{FF2B5EF4-FFF2-40B4-BE49-F238E27FC236}">
                <a16:creationId xmlns:a16="http://schemas.microsoft.com/office/drawing/2014/main" id="{874F1482-69C3-47D5-95FE-67C0FA2DF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A109BA4-EE07-8EEA-EE87-B88948C45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>
                <a:solidFill>
                  <a:schemeClr val="tx1"/>
                </a:solidFill>
              </a:rPr>
              <a:t>Cele: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2C15260A-3C1E-FFD0-282D-9EB557BE61FC}"/>
              </a:ext>
            </a:extLst>
          </p:cNvPr>
          <p:cNvSpPr txBox="1"/>
          <p:nvPr/>
        </p:nvSpPr>
        <p:spPr>
          <a:xfrm>
            <a:off x="818712" y="1610745"/>
            <a:ext cx="10554574" cy="3636511"/>
          </a:xfrm>
          <a:prstGeom prst="rect">
            <a:avLst/>
          </a:prstGeom>
          <a:effectLst/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r>
              <a:rPr lang="en-US" sz="1400" b="1"/>
              <a:t>Historia </a:t>
            </a:r>
            <a:r>
              <a:rPr lang="en-US" sz="1400" b="1" err="1"/>
              <a:t>wizyt</a:t>
            </a:r>
            <a:r>
              <a:rPr lang="en-US" sz="1400" b="1"/>
              <a:t> </a:t>
            </a:r>
            <a:r>
              <a:rPr lang="en-US" sz="1400" b="1" err="1"/>
              <a:t>dla</a:t>
            </a:r>
            <a:r>
              <a:rPr lang="en-US" sz="1400" b="1"/>
              <a:t> </a:t>
            </a:r>
            <a:r>
              <a:rPr lang="en-US" sz="1400" b="1" err="1"/>
              <a:t>pacjenta</a:t>
            </a:r>
            <a:r>
              <a:rPr lang="en-US" sz="1400" b="1"/>
              <a:t>:</a:t>
            </a:r>
            <a:r>
              <a:rPr lang="en-US" sz="1400"/>
              <a:t> </a:t>
            </a:r>
            <a:r>
              <a:rPr lang="en-US" sz="1400" err="1"/>
              <a:t>pacjent</a:t>
            </a:r>
            <a:r>
              <a:rPr lang="en-US" sz="1400"/>
              <a:t> po </a:t>
            </a:r>
            <a:r>
              <a:rPr lang="en-US" sz="1400" err="1"/>
              <a:t>zalogowaniu</a:t>
            </a:r>
            <a:r>
              <a:rPr lang="en-US" sz="1400"/>
              <a:t> </a:t>
            </a:r>
            <a:r>
              <a:rPr lang="en-US" sz="1400" err="1"/>
              <a:t>widzi</a:t>
            </a:r>
            <a:r>
              <a:rPr lang="en-US" sz="1400"/>
              <a:t> </a:t>
            </a:r>
            <a:r>
              <a:rPr lang="en-US" sz="1400" b="1" err="1"/>
              <a:t>pełną</a:t>
            </a:r>
            <a:r>
              <a:rPr lang="en-US" sz="1400" b="1"/>
              <a:t> </a:t>
            </a:r>
            <a:r>
              <a:rPr lang="en-US" sz="1400" b="1" err="1"/>
              <a:t>historię</a:t>
            </a:r>
            <a:r>
              <a:rPr lang="en-US" sz="1400" b="1"/>
              <a:t> </a:t>
            </a:r>
            <a:r>
              <a:rPr lang="en-US" sz="1400" b="1" err="1"/>
              <a:t>swoich</a:t>
            </a:r>
            <a:r>
              <a:rPr lang="en-US" sz="1400" b="1"/>
              <a:t> </a:t>
            </a:r>
            <a:r>
              <a:rPr lang="en-US" sz="1400" b="1" err="1"/>
              <a:t>wizyt</a:t>
            </a:r>
            <a:r>
              <a:rPr lang="en-US" sz="1400"/>
              <a:t>, </a:t>
            </a:r>
            <a:r>
              <a:rPr lang="en-US" sz="1400" err="1"/>
              <a:t>wraz</a:t>
            </a:r>
            <a:r>
              <a:rPr lang="en-US" sz="1400"/>
              <a:t> z </a:t>
            </a:r>
            <a:r>
              <a:rPr lang="en-US" sz="1400" err="1"/>
              <a:t>podstawowymi</a:t>
            </a:r>
            <a:r>
              <a:rPr lang="en-US" sz="1400"/>
              <a:t> </a:t>
            </a:r>
            <a:r>
              <a:rPr lang="en-US" sz="1400" err="1"/>
              <a:t>informacjami</a:t>
            </a:r>
            <a:r>
              <a:rPr lang="en-US" sz="1400"/>
              <a:t> (data, </a:t>
            </a:r>
            <a:r>
              <a:rPr lang="en-US" sz="1400" err="1"/>
              <a:t>lekarz</a:t>
            </a:r>
            <a:r>
              <a:rPr lang="en-US" sz="1400"/>
              <a:t>, </a:t>
            </a:r>
            <a:r>
              <a:rPr lang="en-US" sz="1400" err="1"/>
              <a:t>zalecenia</a:t>
            </a:r>
            <a:r>
              <a:rPr lang="en-US" sz="1400"/>
              <a:t>) </a:t>
            </a:r>
            <a:r>
              <a:rPr lang="en-US" sz="1400" err="1"/>
              <a:t>oraz</a:t>
            </a:r>
            <a:r>
              <a:rPr lang="en-US" sz="1400"/>
              <a:t> </a:t>
            </a:r>
            <a:r>
              <a:rPr lang="en-US" sz="1400" err="1"/>
              <a:t>dodane</a:t>
            </a:r>
            <a:r>
              <a:rPr lang="en-US" sz="1400"/>
              <a:t> </a:t>
            </a:r>
            <a:r>
              <a:rPr lang="en-US" sz="1400" err="1"/>
              <a:t>przez</a:t>
            </a:r>
            <a:r>
              <a:rPr lang="en-US" sz="1400"/>
              <a:t> </a:t>
            </a:r>
            <a:r>
              <a:rPr lang="en-US" sz="1400" err="1"/>
              <a:t>Laborantów</a:t>
            </a:r>
            <a:r>
              <a:rPr lang="en-US" sz="1400"/>
              <a:t> </a:t>
            </a:r>
            <a:r>
              <a:rPr lang="en-US" sz="1400" err="1"/>
              <a:t>wyniki</a:t>
            </a:r>
            <a:r>
              <a:rPr lang="en-US" sz="1400"/>
              <a:t> </a:t>
            </a:r>
            <a:r>
              <a:rPr lang="en-US" sz="1400" err="1"/>
              <a:t>badań</a:t>
            </a:r>
            <a:r>
              <a:rPr lang="en-US" sz="1400"/>
              <a:t>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endParaRPr lang="en-US" sz="1400"/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r>
              <a:rPr lang="en-US" sz="1400" b="1"/>
              <a:t>Historia </a:t>
            </a:r>
            <a:r>
              <a:rPr lang="en-US" sz="1400" b="1" err="1"/>
              <a:t>wizyt</a:t>
            </a:r>
            <a:r>
              <a:rPr lang="en-US" sz="1400" b="1"/>
              <a:t> </a:t>
            </a:r>
            <a:r>
              <a:rPr lang="en-US" sz="1400" b="1" err="1"/>
              <a:t>dla</a:t>
            </a:r>
            <a:r>
              <a:rPr lang="en-US" sz="1400" b="1"/>
              <a:t> </a:t>
            </a:r>
            <a:r>
              <a:rPr lang="en-US" sz="1400" b="1" err="1"/>
              <a:t>Lekarza</a:t>
            </a:r>
            <a:r>
              <a:rPr lang="en-US" sz="1400" b="1"/>
              <a:t>:</a:t>
            </a:r>
            <a:r>
              <a:rPr lang="en-US" sz="1400"/>
              <a:t> </a:t>
            </a:r>
            <a:r>
              <a:rPr lang="en-US" sz="1400" err="1"/>
              <a:t>Lekarz</a:t>
            </a:r>
            <a:r>
              <a:rPr lang="en-US" sz="1400"/>
              <a:t> </a:t>
            </a:r>
            <a:r>
              <a:rPr lang="en-US" sz="1400" b="1" err="1"/>
              <a:t>wpisuje</a:t>
            </a:r>
            <a:r>
              <a:rPr lang="en-US" sz="1400" b="1"/>
              <a:t> </a:t>
            </a:r>
            <a:r>
              <a:rPr lang="en-US" sz="1400" b="1" err="1"/>
              <a:t>kod</a:t>
            </a:r>
            <a:r>
              <a:rPr lang="en-US" sz="1400" b="1"/>
              <a:t> </a:t>
            </a:r>
            <a:r>
              <a:rPr lang="en-US" sz="1400" b="1" err="1"/>
              <a:t>pacjenta</a:t>
            </a:r>
            <a:r>
              <a:rPr lang="en-US" sz="1400"/>
              <a:t>, a system </a:t>
            </a:r>
            <a:r>
              <a:rPr lang="en-US" sz="1400" err="1"/>
              <a:t>wyświetla</a:t>
            </a:r>
            <a:r>
              <a:rPr lang="en-US" sz="1400"/>
              <a:t> mu </a:t>
            </a:r>
            <a:r>
              <a:rPr lang="en-US" sz="1400" err="1"/>
              <a:t>dane</a:t>
            </a:r>
            <a:r>
              <a:rPr lang="en-US" sz="1400"/>
              <a:t> </a:t>
            </a:r>
            <a:r>
              <a:rPr lang="en-US" sz="1400" err="1"/>
              <a:t>pacjenta</a:t>
            </a:r>
            <a:r>
              <a:rPr lang="en-US" sz="1400"/>
              <a:t> </a:t>
            </a:r>
            <a:r>
              <a:rPr lang="en-US" sz="1400" err="1"/>
              <a:t>i</a:t>
            </a:r>
            <a:r>
              <a:rPr lang="en-US" sz="1400"/>
              <a:t> </a:t>
            </a:r>
            <a:r>
              <a:rPr lang="en-US" sz="1400" b="1" err="1"/>
              <a:t>jego</a:t>
            </a:r>
            <a:r>
              <a:rPr lang="en-US" sz="1400" b="1"/>
              <a:t> </a:t>
            </a:r>
            <a:r>
              <a:rPr lang="en-US" sz="1400" b="1" err="1"/>
              <a:t>wcześniejsze</a:t>
            </a:r>
            <a:r>
              <a:rPr lang="en-US" sz="1400" b="1"/>
              <a:t> </a:t>
            </a:r>
            <a:r>
              <a:rPr lang="en-US" sz="1400" b="1" err="1"/>
              <a:t>wizyty</a:t>
            </a:r>
            <a:r>
              <a:rPr lang="en-US" sz="1400"/>
              <a:t> (np. </a:t>
            </a:r>
            <a:r>
              <a:rPr lang="en-US" sz="1400" err="1"/>
              <a:t>przebieg</a:t>
            </a:r>
            <a:r>
              <a:rPr lang="en-US" sz="1400"/>
              <a:t> </a:t>
            </a:r>
            <a:r>
              <a:rPr lang="en-US" sz="1400" err="1"/>
              <a:t>leczenia</a:t>
            </a:r>
            <a:r>
              <a:rPr lang="en-US" sz="1400"/>
              <a:t>, </a:t>
            </a:r>
            <a:r>
              <a:rPr lang="en-US" sz="1400" err="1"/>
              <a:t>poprzednie</a:t>
            </a:r>
            <a:r>
              <a:rPr lang="en-US" sz="1400"/>
              <a:t> </a:t>
            </a:r>
            <a:r>
              <a:rPr lang="en-US" sz="1400" err="1"/>
              <a:t>diagnozy</a:t>
            </a:r>
            <a:r>
              <a:rPr lang="en-US" sz="1400"/>
              <a:t>, </a:t>
            </a:r>
            <a:r>
              <a:rPr lang="en-US" sz="1400" err="1"/>
              <a:t>zalecenia</a:t>
            </a:r>
            <a:r>
              <a:rPr lang="en-US" sz="1400"/>
              <a:t>).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endParaRPr lang="en-US" sz="1400"/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r>
              <a:rPr lang="en-US" sz="1400" b="1" err="1"/>
              <a:t>Dodawanie</a:t>
            </a:r>
            <a:r>
              <a:rPr lang="en-US" sz="1400" b="1"/>
              <a:t> </a:t>
            </a:r>
            <a:r>
              <a:rPr lang="en-US" sz="1400" b="1" err="1"/>
              <a:t>wyników</a:t>
            </a:r>
            <a:r>
              <a:rPr lang="en-US" sz="1400" b="1"/>
              <a:t> </a:t>
            </a:r>
            <a:r>
              <a:rPr lang="en-US" sz="1400" b="1" err="1"/>
              <a:t>przez</a:t>
            </a:r>
            <a:r>
              <a:rPr lang="en-US" sz="1400" b="1"/>
              <a:t> </a:t>
            </a:r>
            <a:r>
              <a:rPr lang="en-US" sz="1400" b="1" err="1"/>
              <a:t>Laboranta</a:t>
            </a:r>
            <a:r>
              <a:rPr lang="en-US" sz="1400" b="1"/>
              <a:t>:</a:t>
            </a:r>
            <a:r>
              <a:rPr lang="en-US" sz="1400"/>
              <a:t> </a:t>
            </a:r>
            <a:r>
              <a:rPr lang="en-US" sz="1400" err="1"/>
              <a:t>Laborant</a:t>
            </a:r>
            <a:r>
              <a:rPr lang="en-US" sz="1400"/>
              <a:t> </a:t>
            </a:r>
            <a:r>
              <a:rPr lang="en-US" sz="1400" b="1" err="1"/>
              <a:t>dodaje</a:t>
            </a:r>
            <a:r>
              <a:rPr lang="en-US" sz="1400" b="1"/>
              <a:t> </a:t>
            </a:r>
            <a:r>
              <a:rPr lang="en-US" sz="1400" b="1" err="1"/>
              <a:t>wyniki</a:t>
            </a:r>
            <a:r>
              <a:rPr lang="en-US" sz="1400" b="1"/>
              <a:t> </a:t>
            </a:r>
            <a:r>
              <a:rPr lang="en-US" sz="1400" b="1" err="1"/>
              <a:t>badań</a:t>
            </a:r>
            <a:r>
              <a:rPr lang="en-US" sz="1400"/>
              <a:t> po </a:t>
            </a:r>
            <a:r>
              <a:rPr lang="en-US" sz="1400" err="1"/>
              <a:t>podaniu</a:t>
            </a:r>
            <a:r>
              <a:rPr lang="en-US" sz="1400"/>
              <a:t> </a:t>
            </a:r>
            <a:r>
              <a:rPr lang="en-US" sz="1400" b="1" err="1"/>
              <a:t>kodu</a:t>
            </a:r>
            <a:r>
              <a:rPr lang="en-US" sz="1400" b="1"/>
              <a:t> </a:t>
            </a:r>
            <a:r>
              <a:rPr lang="en-US" sz="1400" b="1" err="1"/>
              <a:t>pacjenta</a:t>
            </a:r>
            <a:r>
              <a:rPr lang="en-US" sz="1400"/>
              <a:t>.</a:t>
            </a:r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endParaRPr lang="en-US" sz="1400"/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r>
              <a:rPr lang="en-US" sz="1400" b="1" err="1"/>
              <a:t>Bezpieczeństwo</a:t>
            </a:r>
            <a:r>
              <a:rPr lang="en-US" sz="1400" b="1"/>
              <a:t> </a:t>
            </a:r>
            <a:r>
              <a:rPr lang="en-US" sz="1400" b="1" err="1"/>
              <a:t>i</a:t>
            </a:r>
            <a:r>
              <a:rPr lang="en-US" sz="1400" b="1"/>
              <a:t> </a:t>
            </a:r>
            <a:r>
              <a:rPr lang="en-US" sz="1400" b="1" err="1"/>
              <a:t>rozdzielenie</a:t>
            </a:r>
            <a:r>
              <a:rPr lang="en-US" sz="1400" b="1"/>
              <a:t> </a:t>
            </a:r>
            <a:r>
              <a:rPr lang="en-US" sz="1400" b="1" err="1"/>
              <a:t>uprawnień</a:t>
            </a:r>
            <a:r>
              <a:rPr lang="en-US" sz="1400" b="1"/>
              <a:t>:</a:t>
            </a:r>
            <a:r>
              <a:rPr lang="en-US" sz="1400"/>
              <a:t> </a:t>
            </a:r>
            <a:r>
              <a:rPr lang="en-US" sz="1400" err="1"/>
              <a:t>Tymczasowy</a:t>
            </a:r>
            <a:r>
              <a:rPr lang="en-US" sz="1400"/>
              <a:t> </a:t>
            </a:r>
            <a:r>
              <a:rPr lang="en-US" sz="1400" err="1"/>
              <a:t>kod</a:t>
            </a:r>
            <a:r>
              <a:rPr lang="en-US" sz="1400"/>
              <a:t> </a:t>
            </a:r>
            <a:r>
              <a:rPr lang="en-US" sz="1400" err="1"/>
              <a:t>Pacjenta</a:t>
            </a:r>
            <a:r>
              <a:rPr lang="en-US" sz="1400"/>
              <a:t> </a:t>
            </a:r>
            <a:r>
              <a:rPr lang="en-US" sz="1400" err="1"/>
              <a:t>zapewnia</a:t>
            </a:r>
            <a:r>
              <a:rPr lang="en-US" sz="1400"/>
              <a:t> </a:t>
            </a:r>
            <a:r>
              <a:rPr lang="en-US" sz="1400" err="1"/>
              <a:t>bezpieczeństwo</a:t>
            </a:r>
            <a:r>
              <a:rPr lang="en-US" sz="1400"/>
              <a:t> </a:t>
            </a:r>
            <a:r>
              <a:rPr lang="en-US" sz="1400" err="1"/>
              <a:t>dla</a:t>
            </a:r>
            <a:r>
              <a:rPr lang="en-US" sz="1400"/>
              <a:t> </a:t>
            </a:r>
            <a:r>
              <a:rPr lang="en-US" sz="1400" err="1"/>
              <a:t>danych</a:t>
            </a:r>
            <a:r>
              <a:rPr lang="en-US" sz="1400"/>
              <a:t>. </a:t>
            </a:r>
            <a:r>
              <a:rPr lang="en-US" sz="1400" err="1"/>
              <a:t>Każdy</a:t>
            </a:r>
            <a:r>
              <a:rPr lang="en-US" sz="1400"/>
              <a:t> </a:t>
            </a:r>
            <a:r>
              <a:rPr lang="en-US" sz="1400" err="1"/>
              <a:t>widzi</a:t>
            </a:r>
            <a:r>
              <a:rPr lang="en-US" sz="1400"/>
              <a:t> </a:t>
            </a:r>
            <a:r>
              <a:rPr lang="en-US" sz="1400" err="1"/>
              <a:t>tylko</a:t>
            </a:r>
            <a:r>
              <a:rPr lang="en-US" sz="1400"/>
              <a:t> to, do </a:t>
            </a:r>
            <a:r>
              <a:rPr lang="en-US" sz="1400" err="1"/>
              <a:t>czego</a:t>
            </a:r>
            <a:r>
              <a:rPr lang="en-US" sz="1400"/>
              <a:t> ma </a:t>
            </a:r>
            <a:r>
              <a:rPr lang="en-US" sz="1400" err="1"/>
              <a:t>dostęp</a:t>
            </a:r>
            <a:r>
              <a:rPr lang="en-US" sz="1400"/>
              <a:t>. </a:t>
            </a:r>
            <a:r>
              <a:rPr lang="en-US" sz="1400" err="1"/>
              <a:t>Pacjent</a:t>
            </a:r>
            <a:r>
              <a:rPr lang="en-US" sz="1400"/>
              <a:t> – </a:t>
            </a:r>
            <a:r>
              <a:rPr lang="en-US" sz="1400" err="1"/>
              <a:t>swoje</a:t>
            </a:r>
            <a:r>
              <a:rPr lang="en-US" sz="1400"/>
              <a:t> </a:t>
            </a:r>
            <a:r>
              <a:rPr lang="en-US" sz="1400" err="1"/>
              <a:t>dane</a:t>
            </a:r>
            <a:r>
              <a:rPr lang="en-US" sz="1400"/>
              <a:t>, </a:t>
            </a:r>
            <a:r>
              <a:rPr lang="en-US" sz="1400" err="1"/>
              <a:t>Lekarz</a:t>
            </a:r>
            <a:r>
              <a:rPr lang="en-US" sz="1400"/>
              <a:t> – </a:t>
            </a:r>
            <a:r>
              <a:rPr lang="en-US" sz="1400" err="1"/>
              <a:t>dane</a:t>
            </a:r>
            <a:r>
              <a:rPr lang="en-US" sz="1400"/>
              <a:t> </a:t>
            </a:r>
            <a:r>
              <a:rPr lang="en-US" sz="1400" err="1"/>
              <a:t>pacjenta</a:t>
            </a:r>
            <a:r>
              <a:rPr lang="en-US" sz="1400"/>
              <a:t> po </a:t>
            </a:r>
            <a:r>
              <a:rPr lang="en-US" sz="1400" err="1"/>
              <a:t>podaniu</a:t>
            </a:r>
            <a:r>
              <a:rPr lang="en-US" sz="1400"/>
              <a:t> </a:t>
            </a:r>
            <a:r>
              <a:rPr lang="en-US" sz="1400" err="1"/>
              <a:t>kodu</a:t>
            </a:r>
            <a:r>
              <a:rPr lang="en-US" sz="1400"/>
              <a:t>, </a:t>
            </a:r>
            <a:r>
              <a:rPr lang="en-US" sz="1400" err="1"/>
              <a:t>Laborant</a:t>
            </a:r>
            <a:r>
              <a:rPr lang="en-US" sz="1400"/>
              <a:t> – </a:t>
            </a:r>
            <a:r>
              <a:rPr lang="en-US" sz="1400" err="1"/>
              <a:t>formularz</a:t>
            </a:r>
            <a:r>
              <a:rPr lang="en-US" sz="1400"/>
              <a:t> </a:t>
            </a:r>
            <a:r>
              <a:rPr lang="en-US" sz="1400" err="1"/>
              <a:t>wyników</a:t>
            </a:r>
            <a:r>
              <a:rPr lang="en-US" sz="1400"/>
              <a:t>.</a:t>
            </a:r>
          </a:p>
          <a:p>
            <a:pPr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</a:pPr>
            <a:endParaRPr lang="en-US" sz="1400"/>
          </a:p>
          <a:p>
            <a:pPr marL="285750" indent="-285750"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</a:pPr>
            <a:endParaRPr lang="en-US" sz="1400"/>
          </a:p>
        </p:txBody>
      </p:sp>
      <p:sp>
        <p:nvSpPr>
          <p:cNvPr id="37" name="Freeform: Shape 30">
            <a:extLst>
              <a:ext uri="{FF2B5EF4-FFF2-40B4-BE49-F238E27FC236}">
                <a16:creationId xmlns:a16="http://schemas.microsoft.com/office/drawing/2014/main" id="{41CA5367-149E-428C-B4D8-C1ECC9EAF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10800000">
            <a:off x="0" y="5388384"/>
            <a:ext cx="12192000" cy="1469616"/>
          </a:xfrm>
          <a:custGeom>
            <a:avLst/>
            <a:gdLst>
              <a:gd name="connsiteX0" fmla="*/ 6113881 w 12192000"/>
              <a:gd name="connsiteY0" fmla="*/ 1469616 h 1469616"/>
              <a:gd name="connsiteX1" fmla="*/ 6101181 w 12192000"/>
              <a:gd name="connsiteY1" fmla="*/ 1469616 h 1469616"/>
              <a:gd name="connsiteX2" fmla="*/ 6090598 w 12192000"/>
              <a:gd name="connsiteY2" fmla="*/ 1469616 h 1469616"/>
              <a:gd name="connsiteX3" fmla="*/ 6077897 w 12192000"/>
              <a:gd name="connsiteY3" fmla="*/ 1464854 h 1469616"/>
              <a:gd name="connsiteX4" fmla="*/ 6065198 w 12192000"/>
              <a:gd name="connsiteY4" fmla="*/ 1460091 h 1469616"/>
              <a:gd name="connsiteX5" fmla="*/ 6056731 w 12192000"/>
              <a:gd name="connsiteY5" fmla="*/ 1456916 h 1469616"/>
              <a:gd name="connsiteX6" fmla="*/ 5678033 w 12192000"/>
              <a:gd name="connsiteY6" fmla="*/ 1172892 h 1469616"/>
              <a:gd name="connsiteX7" fmla="*/ 0 w 12192000"/>
              <a:gd name="connsiteY7" fmla="*/ 1172892 h 1469616"/>
              <a:gd name="connsiteX8" fmla="*/ 0 w 12192000"/>
              <a:gd name="connsiteY8" fmla="*/ 1162370 h 1469616"/>
              <a:gd name="connsiteX9" fmla="*/ 0 w 12192000"/>
              <a:gd name="connsiteY9" fmla="*/ 403347 h 1469616"/>
              <a:gd name="connsiteX10" fmla="*/ 0 w 12192000"/>
              <a:gd name="connsiteY10" fmla="*/ 0 h 1469616"/>
              <a:gd name="connsiteX11" fmla="*/ 12192000 w 12192000"/>
              <a:gd name="connsiteY11" fmla="*/ 0 h 1469616"/>
              <a:gd name="connsiteX12" fmla="*/ 12192000 w 12192000"/>
              <a:gd name="connsiteY12" fmla="*/ 403347 h 1469616"/>
              <a:gd name="connsiteX13" fmla="*/ 12192000 w 12192000"/>
              <a:gd name="connsiteY13" fmla="*/ 1162370 h 1469616"/>
              <a:gd name="connsiteX14" fmla="*/ 12192000 w 12192000"/>
              <a:gd name="connsiteY14" fmla="*/ 1172892 h 1469616"/>
              <a:gd name="connsiteX15" fmla="*/ 6524330 w 12192000"/>
              <a:gd name="connsiteY15" fmla="*/ 1172892 h 1469616"/>
              <a:gd name="connsiteX16" fmla="*/ 6145631 w 12192000"/>
              <a:gd name="connsiteY16" fmla="*/ 1456916 h 1469616"/>
              <a:gd name="connsiteX17" fmla="*/ 6137163 w 12192000"/>
              <a:gd name="connsiteY17" fmla="*/ 1460091 h 1469616"/>
              <a:gd name="connsiteX18" fmla="*/ 6124463 w 12192000"/>
              <a:gd name="connsiteY18" fmla="*/ 1464854 h 146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192000" h="1469616">
                <a:moveTo>
                  <a:pt x="6113881" y="1469616"/>
                </a:moveTo>
                <a:lnTo>
                  <a:pt x="6101181" y="1469616"/>
                </a:lnTo>
                <a:lnTo>
                  <a:pt x="6090598" y="1469616"/>
                </a:lnTo>
                <a:lnTo>
                  <a:pt x="6077897" y="1464854"/>
                </a:lnTo>
                <a:lnTo>
                  <a:pt x="6065198" y="1460091"/>
                </a:lnTo>
                <a:lnTo>
                  <a:pt x="6056731" y="1456916"/>
                </a:lnTo>
                <a:lnTo>
                  <a:pt x="5678033" y="1172892"/>
                </a:lnTo>
                <a:lnTo>
                  <a:pt x="0" y="1172892"/>
                </a:lnTo>
                <a:lnTo>
                  <a:pt x="0" y="1162370"/>
                </a:lnTo>
                <a:lnTo>
                  <a:pt x="0" y="403347"/>
                </a:lnTo>
                <a:lnTo>
                  <a:pt x="0" y="0"/>
                </a:lnTo>
                <a:lnTo>
                  <a:pt x="12192000" y="0"/>
                </a:lnTo>
                <a:lnTo>
                  <a:pt x="12192000" y="403347"/>
                </a:lnTo>
                <a:lnTo>
                  <a:pt x="12192000" y="1162370"/>
                </a:lnTo>
                <a:lnTo>
                  <a:pt x="12192000" y="1172892"/>
                </a:lnTo>
                <a:lnTo>
                  <a:pt x="6524330" y="1172892"/>
                </a:lnTo>
                <a:lnTo>
                  <a:pt x="6145631" y="1456916"/>
                </a:lnTo>
                <a:lnTo>
                  <a:pt x="6137163" y="1460091"/>
                </a:lnTo>
                <a:lnTo>
                  <a:pt x="6124463" y="1464854"/>
                </a:lnTo>
                <a:close/>
              </a:path>
            </a:pathLst>
          </a:custGeom>
          <a:ln>
            <a:noFill/>
          </a:ln>
          <a:effectLst/>
          <a:extLst>
            <a:ext uri="{91240B29-F687-4f45-9708-019B960494DF}">
              <a14:hiddenLine xmlns:a14="http://schemas.microsoft.com/office/drawing/2010/main" xmlns:p14="http://schemas.microsoft.com/office/powerpoint/2010/main" xmlns:a16="http://schemas.microsoft.com/office/drawing/2014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43210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7BB7C5-DE23-4C27-707D-C456EA3F5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0">
                <a:ea typeface="+mj-lt"/>
                <a:cs typeface="+mj-lt"/>
              </a:rPr>
              <a:t>Aktualny postęp: Logowanie/Rejestracja</a:t>
            </a:r>
          </a:p>
        </p:txBody>
      </p:sp>
      <p:pic>
        <p:nvPicPr>
          <p:cNvPr id="5" name="Symbol zastępczy zawartości 4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ADF9F86A-B340-6027-7DCF-7089CB487B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92225" y="2136364"/>
            <a:ext cx="3075919" cy="4219994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  <p:pic>
        <p:nvPicPr>
          <p:cNvPr id="6" name="Obraz 5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4EB10109-7A7A-D9DE-1C80-B9EF303DC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900" y="2137186"/>
            <a:ext cx="2661187" cy="443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756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D9680-3358-9BE5-B0C2-A6F71C4E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706BDE1-09DD-CAA2-5CDD-0BC8C9A22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0" dirty="0">
                <a:ea typeface="+mj-lt"/>
                <a:cs typeface="+mj-lt"/>
              </a:rPr>
              <a:t>Aktualny postęp: Interfejs Pacjenta</a:t>
            </a:r>
            <a:endParaRPr lang="pl-PL" dirty="0"/>
          </a:p>
        </p:txBody>
      </p:sp>
      <p:pic>
        <p:nvPicPr>
          <p:cNvPr id="9" name="Symbol zastępczy zawartości 8" descr="Obraz zawierający tekst, zrzut ekranu, oprogramowanie, Strona internetowa&#10;&#10;Zawartość wygenerowana przez AI może być niepoprawna.">
            <a:extLst>
              <a:ext uri="{FF2B5EF4-FFF2-40B4-BE49-F238E27FC236}">
                <a16:creationId xmlns:a16="http://schemas.microsoft.com/office/drawing/2014/main" id="{A30EA714-BB51-7327-605F-7635A8CF76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63458" y="1986430"/>
            <a:ext cx="6696652" cy="4552725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425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75B91-4A98-24B7-A60C-D2F70F833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FECB758-DC94-F976-08B5-12A8DCB7E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0" dirty="0">
                <a:ea typeface="+mj-lt"/>
                <a:cs typeface="+mj-lt"/>
              </a:rPr>
              <a:t>Aktualny postęp: Interfejs Pacjenta</a:t>
            </a:r>
            <a:endParaRPr lang="pl-PL" dirty="0"/>
          </a:p>
        </p:txBody>
      </p:sp>
      <p:pic>
        <p:nvPicPr>
          <p:cNvPr id="5" name="Symbol zastępczy zawartości 4" descr="Obraz zawierający tekst, zrzut ekranu, oprogramowanie, Ikona komputerowa&#10;&#10;Zawartość wygenerowana przez AI może być niepoprawna.">
            <a:extLst>
              <a:ext uri="{FF2B5EF4-FFF2-40B4-BE49-F238E27FC236}">
                <a16:creationId xmlns:a16="http://schemas.microsoft.com/office/drawing/2014/main" id="{38C55D62-BD46-6613-8E00-14962216B0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93568" y="2004573"/>
            <a:ext cx="6710654" cy="4537056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75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A4BC7-F116-3584-CA54-F795D1542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5746A86-F649-163D-431F-341ED7D9F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0" dirty="0">
                <a:ea typeface="+mj-lt"/>
                <a:cs typeface="+mj-lt"/>
              </a:rPr>
              <a:t>Aktualny postęp: Interfejs Lekarza</a:t>
            </a:r>
            <a:endParaRPr lang="pl-PL" dirty="0"/>
          </a:p>
        </p:txBody>
      </p:sp>
      <p:pic>
        <p:nvPicPr>
          <p:cNvPr id="6" name="Symbol zastępczy zawartości 5" descr="Obraz zawierający tekst, zrzut ekranu, oprogramowanie, Ikona komputerowa&#10;&#10;Zawartość wygenerowana przez AI może być niepoprawna.">
            <a:extLst>
              <a:ext uri="{FF2B5EF4-FFF2-40B4-BE49-F238E27FC236}">
                <a16:creationId xmlns:a16="http://schemas.microsoft.com/office/drawing/2014/main" id="{45B6F3B4-D57A-14BC-CDC2-D4DFB41982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9815" y="2004573"/>
            <a:ext cx="6728054" cy="4576639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8422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D1C50-1B7F-14EE-858B-0BF27FF4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10A48F3-BA2F-E5EE-3FE3-E808DBA36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0" dirty="0">
                <a:ea typeface="+mj-lt"/>
                <a:cs typeface="+mj-lt"/>
              </a:rPr>
              <a:t>Aktualny postęp: Interfejs Laboranta</a:t>
            </a:r>
            <a:endParaRPr lang="pl-PL" dirty="0"/>
          </a:p>
        </p:txBody>
      </p:sp>
      <p:pic>
        <p:nvPicPr>
          <p:cNvPr id="5" name="Symbol zastępczy zawartości 4" descr="Obraz zawierający tekst, zrzut ekranu, oprogramowanie, Ikona komputerowa&#10;&#10;Zawartość wygenerowana przez AI może być niepoprawna.">
            <a:extLst>
              <a:ext uri="{FF2B5EF4-FFF2-40B4-BE49-F238E27FC236}">
                <a16:creationId xmlns:a16="http://schemas.microsoft.com/office/drawing/2014/main" id="{16A44A7B-D7C4-29C2-FE3B-B2609E5F26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97609" y="2020242"/>
            <a:ext cx="6658865" cy="4471082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9182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>
            <a:extLst>
              <a:ext uri="{FF2B5EF4-FFF2-40B4-BE49-F238E27FC236}">
                <a16:creationId xmlns:a16="http://schemas.microsoft.com/office/drawing/2014/main" id="{8775F366-526C-4C42-8931-696FFE8A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:a16="http://schemas.microsoft.com/office/drawing/2014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09699A8-9F52-4C34-9606-370C555BC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1550C34-8152-7B21-22F5-039011F5C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199" y="1240780"/>
            <a:ext cx="6086857" cy="4376440"/>
          </a:xfr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4400">
                <a:solidFill>
                  <a:schemeClr val="tx1"/>
                </a:solidFill>
              </a:rPr>
              <a:t>KNOIEC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CF8BA8-E7AA-4F97-9E4C-CD11742FA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696777"/>
            <a:ext cx="0" cy="34644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51816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9ECD33"/>
      </a:accent1>
      <a:accent2>
        <a:srgbClr val="E19933"/>
      </a:accent2>
      <a:accent3>
        <a:srgbClr val="DC5D3D"/>
      </a:accent3>
      <a:accent4>
        <a:srgbClr val="A967CB"/>
      </a:accent4>
      <a:accent5>
        <a:srgbClr val="5EA5DD"/>
      </a:accent5>
      <a:accent6>
        <a:srgbClr val="44BEA9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98D1675B-7325-48AD-994B-0DEF3379A9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Panoramiczny</PresentationFormat>
  <Slides>9</Slides>
  <Notes>0</Notes>
  <HiddenSlides>0</HiddenSlides>
  <ScaleCrop>false</ScaleCrop>
  <HeadingPairs>
    <vt:vector size="4" baseType="variant"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0" baseType="lpstr">
      <vt:lpstr>Quotable</vt:lpstr>
      <vt:lpstr>Aplikacja do dokumentowania wizyt u lekarza i przeglądania historii pacjenta.</vt:lpstr>
      <vt:lpstr>Motywacja:</vt:lpstr>
      <vt:lpstr>Cele:</vt:lpstr>
      <vt:lpstr>Aktualny postęp: Logowanie/Rejestracja</vt:lpstr>
      <vt:lpstr>Aktualny postęp: Interfejs Pacjenta</vt:lpstr>
      <vt:lpstr>Aktualny postęp: Interfejs Pacjenta</vt:lpstr>
      <vt:lpstr>Aktualny postęp: Interfejs Lekarza</vt:lpstr>
      <vt:lpstr>Aktualny postęp: Interfejs Laboranta</vt:lpstr>
      <vt:lpstr>KNOIEC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28</cp:revision>
  <dcterms:created xsi:type="dcterms:W3CDTF">2026-01-12T17:28:21Z</dcterms:created>
  <dcterms:modified xsi:type="dcterms:W3CDTF">2026-01-12T20:11:57Z</dcterms:modified>
</cp:coreProperties>
</file>