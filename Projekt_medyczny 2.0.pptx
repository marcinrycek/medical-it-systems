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AFD21B-A1D2-F502-72FA-2B827EC26AFE}" v="29" dt="2026-01-13T22:44:14.975"/>
    <p1510:client id="{F306F1C5-9D58-6799-39F1-9EEB5379D1D7}" v="41" dt="2026-01-14T09:42:23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33DECEA-D1D5-463C-94DB-A747723769D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91080CB-CC1B-4E7A-8C97-45BE9D948243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A9BB59A-508D-4D2E-8C1C-CB878F7A87E6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192C02C-69A2-4875-9B69-D666AAEE9316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BCFAE8B-AF8D-4EDF-A60A-15D1FA7DB7B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810000" y="447120"/>
            <a:ext cx="10571760" cy="44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D06585-E6EF-4EFF-8203-2EA83D537DE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0FDD269-EB51-4313-B8F2-ACBBBCFFD1D1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9DE7AA9-FAC5-41BC-B6F7-4A35E4576E8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008602B-33F7-4426-85BF-6DAE30812B5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37BDA0-B437-4136-A686-2A08B1C896F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19AA602-6757-4AA5-8CB1-1966BFEC5530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8696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795528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81864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8696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795528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69956CA-EEBD-4BB3-B8C3-6C5C326AF877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5AD467-2F06-489B-BEC0-A85968B82D2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95C8194E-D0DE-4105-92E2-B11DFA68645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8DC0833-2483-41E3-BBA8-D708C26378F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073CFE8-7099-4514-96ED-249746A4467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12F7E78-0299-4C2D-828A-F9CC477B44B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810000" y="447120"/>
            <a:ext cx="10571760" cy="449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l-PL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D949E21-9EE5-4F5B-8339-819B7E2DE91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4B3A696-FC2B-45E1-A2AC-8AFFEA49FBA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36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4957054-C899-4FDF-83E6-060B17824CA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56D6475-DB3A-455D-8255-CE958D77B01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818640" y="4121640"/>
            <a:ext cx="1055412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B9A7DC3-8CE6-4D46-8ED3-9697D4DF482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26560" y="222228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1864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26560" y="4121640"/>
            <a:ext cx="515016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5B9212F-5412-426E-842E-90F85B6F49ED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8696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7955280" y="222228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81864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8696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7955280" y="4121640"/>
            <a:ext cx="3398040" cy="173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4577DD-65A5-4972-AFBC-52BC9AFFA59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cxn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4"/>
            <a:srcRect/>
            <a:tile tx="0" ty="0" sx="99978" sy="99978" algn="tl"/>
          </a:blipFill>
          <a:ln cap="rnd">
            <a:solidFill>
              <a:srgbClr val="9ECD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10000" y="1449000"/>
            <a:ext cx="10571760" cy="297072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5400" b="1" strike="noStrike" spc="-1">
                <a:solidFill>
                  <a:srgbClr val="FEFEFE"/>
                </a:solidFill>
                <a:latin typeface="Century Gothic"/>
              </a:rPr>
              <a:t>Click to edit Master title style</a:t>
            </a:r>
            <a:endParaRPr lang="pl-PL" sz="54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Century Gothic"/>
              </a:rPr>
              <a:t>&lt;data/godzina&gt;</a:t>
            </a:r>
            <a:endParaRPr lang="pl-PL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ctr">
              <a:buNone/>
              <a:defRPr lang="pl-PL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strike="noStrike" spc="-1">
                <a:solidFill>
                  <a:srgbClr val="FFFFFF"/>
                </a:solidFill>
                <a:latin typeface="Times New Roman"/>
              </a:rPr>
              <a:t>&lt;stopka&gt;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bIns="1080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2000" b="0" strike="noStrike" spc="-1">
                <a:solidFill>
                  <a:schemeClr val="accent1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7C8BDD-B5E6-400A-BE28-439926745111}" type="slidenum">
              <a:rPr lang="en-US" sz="2000" b="0" strike="noStrike" spc="-1">
                <a:solidFill>
                  <a:schemeClr val="accent1"/>
                </a:solidFill>
                <a:latin typeface="Century Gothic"/>
              </a:rPr>
              <a:t>‹#›</a:t>
            </a:fld>
            <a:endParaRPr lang="pl-PL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1800" b="0" strike="noStrike" spc="-1">
                <a:solidFill>
                  <a:srgbClr val="FFFFFF"/>
                </a:solidFill>
                <a:latin typeface="Century Gothic"/>
              </a:rPr>
              <a:t>Kliknij, aby edytować format tekstu konspektu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l-PL" sz="1400" b="0" strike="noStrike" spc="-1">
                <a:solidFill>
                  <a:srgbClr val="FFFFFF"/>
                </a:solidFill>
                <a:latin typeface="Century Gothic"/>
              </a:rPr>
              <a:t>Drugi poziom konspektu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1200" b="0" strike="noStrike" spc="-1">
                <a:solidFill>
                  <a:srgbClr val="FFFFFF"/>
                </a:solidFill>
                <a:latin typeface="Century Gothic"/>
              </a:rPr>
              <a:t>Trzeci poziom konspektu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l-PL" sz="1200" b="0" strike="noStrike" spc="-1">
                <a:solidFill>
                  <a:srgbClr val="FFFFFF"/>
                </a:solidFill>
                <a:latin typeface="Century Gothic"/>
              </a:rPr>
              <a:t>Czwarty poziom konspektu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Piąty poziom konspektu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Szósty poziom konspektu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Siódmy poziom konspektu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6"/>
          <p:cNvSpPr/>
          <p:nvPr/>
        </p:nvSpPr>
        <p:spPr>
          <a:xfrm>
            <a:off x="0" y="0"/>
            <a:ext cx="12191760" cy="2185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2185560"/>
              <a:gd name="textAreaBottom" fmla="*/ 2185920 h 2185560"/>
            </a:gdLst>
            <a:ahLst/>
            <a:cxnLst/>
            <a:rect l="textAreaLeft" t="textAreaTop" r="textAreaRight" b="textAreaBottom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14"/>
            <a:srcRect/>
            <a:tile tx="0" ty="0" sx="99978" sy="99978" algn="tl"/>
          </a:blipFill>
          <a:ln cap="rnd">
            <a:solidFill>
              <a:srgbClr val="9ECD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4000" b="1" strike="noStrike" spc="-1">
                <a:solidFill>
                  <a:srgbClr val="FEFEFE"/>
                </a:solidFill>
                <a:latin typeface="Century Gothic"/>
              </a:rPr>
              <a:t>Click to edit Master title style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40000"/>
              </a:srgbClr>
            </a:outerShdw>
          </a:effectLst>
        </p:spPr>
        <p:txBody>
          <a:bodyPr anchor="ctr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800" b="0" strike="noStrike" spc="-1">
                <a:solidFill>
                  <a:srgbClr val="FFFFFF"/>
                </a:solidFill>
                <a:latin typeface="Century Gothic"/>
              </a:rPr>
              <a:t>Click to edit Master text styles</a:t>
            </a:r>
            <a:endParaRPr lang="pl-PL" sz="1800" b="0" strike="noStrike" spc="-1">
              <a:solidFill>
                <a:srgbClr val="FFFFFF"/>
              </a:solidFill>
              <a:latin typeface="Century Gothic"/>
            </a:endParaRPr>
          </a:p>
          <a:p>
            <a:pPr marL="743040" lvl="1" indent="-28584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600" b="0" strike="noStrike" spc="-1">
                <a:solidFill>
                  <a:srgbClr val="FFFFFF"/>
                </a:solidFill>
                <a:latin typeface="Century Gothic"/>
              </a:rPr>
              <a:t>Second level</a:t>
            </a:r>
            <a:endParaRPr lang="pl-PL" sz="1600" b="0" strike="noStrike" spc="-1">
              <a:solidFill>
                <a:srgbClr val="FFFFFF"/>
              </a:solidFill>
              <a:latin typeface="Century Gothic"/>
            </a:endParaRPr>
          </a:p>
          <a:p>
            <a:pPr marL="1143000" lvl="2" indent="-22860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</a:rPr>
              <a:t>Third level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1600200" lvl="3" indent="-2286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200" b="0" strike="noStrike" spc="-1">
                <a:solidFill>
                  <a:srgbClr val="FFFFFF"/>
                </a:solidFill>
                <a:latin typeface="Century Gothic"/>
              </a:rPr>
              <a:t>Fourth level</a:t>
            </a:r>
            <a:endParaRPr lang="pl-PL" sz="1200" b="0" strike="noStrike" spc="-1">
              <a:solidFill>
                <a:srgbClr val="FFFFFF"/>
              </a:solidFill>
              <a:latin typeface="Century Gothic"/>
            </a:endParaRPr>
          </a:p>
          <a:p>
            <a:pPr marL="2057400" lvl="4" indent="-2286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200" b="0" strike="noStrike" spc="-1">
                <a:solidFill>
                  <a:srgbClr val="FFFFFF"/>
                </a:solidFill>
                <a:latin typeface="Century Gothic"/>
              </a:rPr>
              <a:t>Fifth level</a:t>
            </a:r>
            <a:endParaRPr lang="pl-PL" sz="12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4"/>
          </p:nvPr>
        </p:nvSpPr>
        <p:spPr>
          <a:xfrm>
            <a:off x="9334800" y="6041520"/>
            <a:ext cx="134352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900" b="0" strike="noStrike" spc="-1">
                <a:solidFill>
                  <a:srgbClr val="FFFFFF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lang="en-US" sz="900" b="0" strike="noStrike" spc="-1">
                <a:solidFill>
                  <a:srgbClr val="FFFFFF"/>
                </a:solidFill>
                <a:latin typeface="Century Gothic"/>
              </a:rPr>
              <a:t>&lt;data/godzina&gt;</a:t>
            </a:r>
            <a:endParaRPr lang="pl-PL" sz="9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5"/>
          </p:nvPr>
        </p:nvSpPr>
        <p:spPr>
          <a:xfrm>
            <a:off x="451440" y="6041520"/>
            <a:ext cx="8643960" cy="364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ctr">
              <a:buNone/>
              <a:defRPr lang="pl-PL" sz="1400" b="0" strike="noStrike" spc="-1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l-PL" sz="1400" b="0" strike="noStrike" spc="-1">
                <a:solidFill>
                  <a:srgbClr val="FFFFFF"/>
                </a:solidFill>
                <a:latin typeface="Times New Roman"/>
              </a:rPr>
              <a:t>&lt;stopka&gt;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6"/>
          </p:nvPr>
        </p:nvSpPr>
        <p:spPr>
          <a:xfrm>
            <a:off x="10678320" y="5915880"/>
            <a:ext cx="1061640" cy="490320"/>
          </a:xfrm>
          <a:prstGeom prst="rect">
            <a:avLst/>
          </a:prstGeom>
          <a:noFill/>
          <a:ln w="0">
            <a:noFill/>
          </a:ln>
        </p:spPr>
        <p:txBody>
          <a:bodyPr bIns="1080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2000" b="0" strike="noStrike" spc="-1">
                <a:solidFill>
                  <a:schemeClr val="accent1"/>
                </a:solidFill>
                <a:latin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652A03-21FD-49C2-B048-7B5B37FE2590}" type="slidenum">
              <a:rPr lang="en-US" sz="2000" b="0" strike="noStrike" spc="-1">
                <a:solidFill>
                  <a:schemeClr val="accent1"/>
                </a:solidFill>
                <a:latin typeface="Century Gothic"/>
              </a:rPr>
              <a:t>‹#›</a:t>
            </a:fld>
            <a:endParaRPr lang="pl-PL" sz="20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1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10000" y="847440"/>
            <a:ext cx="10571760" cy="21888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t">
            <a:norm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pl-PL" sz="5000" b="1" strike="noStrike" spc="-1">
                <a:solidFill>
                  <a:srgbClr val="FFFFFF"/>
                </a:solidFill>
                <a:latin typeface="Century Gothic"/>
              </a:rPr>
              <a:t>Aplikacja do dokumentowania wizyt u lekarza i przeglądania historii pacjenta.</a:t>
            </a:r>
            <a:endParaRPr lang="pl-PL" sz="50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810000" y="2270880"/>
            <a:ext cx="10571760" cy="188064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40000"/>
              </a:srgbClr>
            </a:outerShdw>
          </a:effectLst>
        </p:spPr>
        <p:txBody>
          <a:bodyPr anchor="b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pl-PL" sz="2000" b="0" strike="noStrike" spc="-1">
                <a:solidFill>
                  <a:srgbClr val="FFFFFF"/>
                </a:solidFill>
                <a:latin typeface="Century Gothic"/>
              </a:rPr>
              <a:t>Marcin Rycek, Mateusz Kowal, Jakub Tracz</a:t>
            </a:r>
            <a:endParaRPr lang="pl-PL" sz="2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Freeform: Shape 16"/>
          <p:cNvSpPr/>
          <p:nvPr/>
        </p:nvSpPr>
        <p:spPr>
          <a:xfrm rot="10800000">
            <a:off x="360" y="5388480"/>
            <a:ext cx="12191760" cy="14691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469160"/>
              <a:gd name="textAreaBottom" fmla="*/ 1469520 h 1469160"/>
            </a:gdLst>
            <a:ahLst/>
            <a:cxnLst/>
            <a:rect l="textAreaLeft" t="textAreaTop" r="textAreaRight" b="textAreaBottom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blipFill rotWithShape="0">
            <a:blip r:embed="rId2"/>
            <a:srcRect/>
            <a:tile tx="0" ty="0" sx="99978" sy="99978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1" strike="noStrike" spc="-1">
                <a:solidFill>
                  <a:srgbClr val="FEFEFE"/>
                </a:solidFill>
                <a:latin typeface="Century Gothic"/>
              </a:rPr>
              <a:t>Motywacja: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18640" y="2222280"/>
            <a:ext cx="10554120" cy="36360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40000"/>
              </a:srgbClr>
            </a:outerShdw>
          </a:effectLst>
        </p:spPr>
        <p:txBody>
          <a:bodyPr anchor="ctr">
            <a:normAutofit/>
          </a:bodyPr>
          <a:lstStyle/>
          <a:p>
            <a:pPr indent="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W wielu placówkach medycznych dokumentacja wizyt i wyników badań bywa rozproszona (różne systemy, papierowe dokumenty), co utrudnia szybki dostęp do historii leczenia i zwiększa ryzyko pomyłek. Pacjenci nie mają wygodnego wglądu w swoje historie wizyt czy zalecenia.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Celem projektu jest stworzenie jednej, prostej aplikacji, która: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285840" indent="-2858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umożliwia pacjentowi łatwe przeglądanie historii wizyt i wyników po zalogowaniu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285840" indent="-2858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pozwala lekarzowi szybko odnaleźć dane pacjenta po wpisaniu jego kodu i przeanalizować historię chorób Pacjenta 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marL="285840" indent="-2858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daje laborantowi możliwość szybkiego dodawania wyników badań 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Century Gothic"/>
                <a:ea typeface="Century Gothic"/>
              </a:rPr>
              <a:t>Dzięki temu system usprawnia pracę personelu, poprawia organizację danych i zwiększa dostępność informacji medycznych dla Pacjentów.</a:t>
            </a: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  <a:p>
            <a:pPr indent="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None/>
              <a:tabLst>
                <a:tab pos="0" algn="l"/>
              </a:tabLst>
            </a:pPr>
            <a:endParaRPr lang="pl-PL" sz="1400" b="0" strike="noStrike" spc="-1">
              <a:solidFill>
                <a:srgbClr val="FFFFFF"/>
              </a:solidFill>
              <a:latin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2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entury Gothic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ctr">
            <a:norm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3200" b="1" strike="noStrike" spc="-1">
                <a:solidFill>
                  <a:srgbClr val="FFFFFF"/>
                </a:solidFill>
                <a:latin typeface="Century Gothic"/>
              </a:rPr>
              <a:t>Cele:</a:t>
            </a:r>
            <a:endParaRPr lang="pl-PL" sz="3200" b="0" strike="noStrike" spc="-1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92" name="pole tekstowe 6"/>
          <p:cNvSpPr/>
          <p:nvPr/>
        </p:nvSpPr>
        <p:spPr>
          <a:xfrm>
            <a:off x="818640" y="1610640"/>
            <a:ext cx="10554120" cy="363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lIns="91440" tIns="45720" rIns="91440" bIns="45720" numCol="1" spcCol="0" anchor="ctr">
            <a:normAutofit/>
          </a:bodyPr>
          <a:lstStyle/>
          <a:p>
            <a:pPr marL="285750" indent="-28575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Historia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wizyt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dla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pacjenta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: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pacjent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po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zalogowaniu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widzi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pełną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historię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swoich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wizyt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wraz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z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podstawowymi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informacjami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(data,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lekarz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zalecenia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)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oraz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dodane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przez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Laborantów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wyniki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badań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.</a:t>
            </a:r>
            <a:endParaRPr lang="pl-PL" sz="14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 marL="285750" indent="-28575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Historia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wizyt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dla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Lekarza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: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Lekarz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wpisuje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kod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pacjenta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a system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wyświetla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mu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dane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pacjenta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i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jego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wcześniejsze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wizyty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(np.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przebieg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leczenia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poprzednie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diagnozy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zalecenia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).</a:t>
            </a:r>
            <a:endParaRPr lang="pl-PL" sz="14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 marL="285750" indent="-28575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Dodawanie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wyników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przez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Laboranta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: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Laborant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dodaje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wyniki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badań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spc="-1" dirty="0">
                <a:solidFill>
                  <a:srgbClr val="FFFFFF"/>
                </a:solidFill>
                <a:latin typeface="Century Gothic"/>
              </a:rPr>
              <a:t>do </a:t>
            </a:r>
            <a:r>
              <a:rPr lang="en-US" sz="1400" spc="-1" dirty="0" err="1">
                <a:solidFill>
                  <a:srgbClr val="FFFFFF"/>
                </a:solidFill>
                <a:latin typeface="Century Gothic"/>
              </a:rPr>
              <a:t>niewykonanych</a:t>
            </a:r>
            <a:r>
              <a:rPr lang="en-US" sz="1400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spc="-1" dirty="0" err="1">
                <a:solidFill>
                  <a:srgbClr val="FFFFFF"/>
                </a:solidFill>
                <a:latin typeface="Century Gothic"/>
              </a:rPr>
              <a:t>badań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.</a:t>
            </a:r>
            <a:endParaRPr lang="pl-PL" sz="14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 marL="285750" indent="-285750"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  <a:buClr>
                <a:srgbClr val="9ECD33"/>
              </a:buClr>
              <a:buFont typeface="Wingdings 2" charset="2"/>
              <a:buChar char=""/>
            </a:pP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Bezpieczeństwo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i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rozdzielenie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1" strike="noStrike" spc="-1" dirty="0" err="1">
                <a:solidFill>
                  <a:srgbClr val="FFFFFF"/>
                </a:solidFill>
                <a:latin typeface="Century Gothic"/>
              </a:rPr>
              <a:t>uprawnień</a:t>
            </a:r>
            <a:r>
              <a:rPr lang="en-US" sz="1400" b="1" strike="noStrike" spc="-1" dirty="0">
                <a:solidFill>
                  <a:srgbClr val="FFFFFF"/>
                </a:solidFill>
                <a:latin typeface="Century Gothic"/>
              </a:rPr>
              <a:t>: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Tymczasowy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kod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Pacjenta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zapewnia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bezpieczeństwo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dla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danych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.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Każdy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widzi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tylko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to, do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czego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ma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dostęp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.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Pacjent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–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swoje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dane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Lekarz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–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dane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pacjenta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po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podaniu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 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kodu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,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Laborant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–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formularz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 </a:t>
            </a:r>
            <a:r>
              <a:rPr lang="en-US" sz="1400" b="0" strike="noStrike" spc="-1" dirty="0" err="1">
                <a:solidFill>
                  <a:srgbClr val="FFFFFF"/>
                </a:solidFill>
                <a:latin typeface="Century Gothic"/>
              </a:rPr>
              <a:t>wyników</a:t>
            </a:r>
            <a:r>
              <a:rPr lang="en-US" sz="1400" b="0" strike="noStrike" spc="-1" dirty="0">
                <a:solidFill>
                  <a:srgbClr val="FFFFFF"/>
                </a:solidFill>
                <a:latin typeface="Century Gothic"/>
              </a:rPr>
              <a:t>.</a:t>
            </a:r>
            <a:endParaRPr lang="pl-PL" sz="1400" b="0" strike="noStrike" spc="-1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281"/>
              </a:spcBef>
              <a:spcAft>
                <a:spcPts val="601"/>
              </a:spcAft>
            </a:pPr>
            <a:endParaRPr lang="pl-PL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Freeform: Shape 30"/>
          <p:cNvSpPr/>
          <p:nvPr/>
        </p:nvSpPr>
        <p:spPr>
          <a:xfrm rot="10800000">
            <a:off x="360" y="5388480"/>
            <a:ext cx="12191760" cy="14691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469160"/>
              <a:gd name="textAreaBottom" fmla="*/ 1469520 h 1469160"/>
            </a:gdLst>
            <a:ahLst/>
            <a:cxnLst/>
            <a:rect l="textAreaLeft" t="textAreaTop" r="textAreaRight" b="textAreaBottom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blipFill rotWithShape="0">
            <a:blip r:embed="rId2"/>
            <a:srcRect/>
            <a:tile tx="0" ty="0" sx="99978" sy="99978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Logowanie/Rejestracja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95" name="Symbol zastępczy zawartości 4" descr="Obraz zawierający tekst, zrzut ekranu, Czcionka, numer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1604520" y="2340000"/>
            <a:ext cx="3075480" cy="421956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96" name="Obraz 5" descr="Obraz zawierający tekst, zrzut ekranu, Czcionka, numer&#10;&#10;Zawartość wygenerowana przez AI może być niepoprawna."/>
          <p:cNvPicPr/>
          <p:nvPr/>
        </p:nvPicPr>
        <p:blipFill>
          <a:blip r:embed="rId3"/>
          <a:stretch/>
        </p:blipFill>
        <p:spPr>
          <a:xfrm>
            <a:off x="7779240" y="2160000"/>
            <a:ext cx="2660760" cy="4433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Pacjenta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98" name="Symbol zastępczy zawartości 8" descr="Obraz zawierający tekst, zrzut ekranu, oprogramowanie, Strona internet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383640" y="1986480"/>
            <a:ext cx="6696360" cy="467352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3" name="Obraz 2" descr="Obraz zawierający tekst, zrzut ekranu, oprogramowanie, System operacyjny&#10;&#10;Zawartość wygenerowana przez AI może być niepoprawna.">
            <a:extLst>
              <a:ext uri="{FF2B5EF4-FFF2-40B4-BE49-F238E27FC236}">
                <a16:creationId xmlns:a16="http://schemas.microsoft.com/office/drawing/2014/main" id="{F8EF395F-CEE4-81A5-6E46-F16F6B57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512" y="1987378"/>
            <a:ext cx="6689247" cy="4674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Pacjenta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100" name="Symbol zastępczy zawartości 4" descr="Obraz zawierający tekst, zrzut ekranu, oprogramowanie, Ikona komputer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369600" y="2004480"/>
            <a:ext cx="6710400" cy="453672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101" name="Obraz 100"/>
          <p:cNvPicPr/>
          <p:nvPr/>
        </p:nvPicPr>
        <p:blipFill>
          <a:blip r:embed="rId3"/>
          <a:stretch/>
        </p:blipFill>
        <p:spPr>
          <a:xfrm>
            <a:off x="3369600" y="2004480"/>
            <a:ext cx="6710400" cy="4655160"/>
          </a:xfrm>
          <a:prstGeom prst="rect">
            <a:avLst/>
          </a:prstGeom>
          <a:ln w="0">
            <a:noFill/>
          </a:ln>
        </p:spPr>
      </p:pic>
      <p:pic>
        <p:nvPicPr>
          <p:cNvPr id="102" name="Obraz 101"/>
          <p:cNvPicPr/>
          <p:nvPr/>
        </p:nvPicPr>
        <p:blipFill>
          <a:blip r:embed="rId4"/>
          <a:stretch/>
        </p:blipFill>
        <p:spPr>
          <a:xfrm>
            <a:off x="3369600" y="2004480"/>
            <a:ext cx="6743520" cy="4680360"/>
          </a:xfrm>
          <a:prstGeom prst="rect">
            <a:avLst/>
          </a:prstGeom>
          <a:ln w="0">
            <a:noFill/>
          </a:ln>
        </p:spPr>
      </p:pic>
      <p:pic>
        <p:nvPicPr>
          <p:cNvPr id="2" name="Obraz 1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EE72164A-1978-6520-2B91-FEEABB3E1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5800" y="2007072"/>
            <a:ext cx="6747561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Lekarza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2" name="Obraz 1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B445CA80-22C5-D607-FE7C-F94000F9E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9" y="2316891"/>
            <a:ext cx="5609138" cy="3820299"/>
          </a:xfrm>
          <a:prstGeom prst="rect">
            <a:avLst/>
          </a:prstGeom>
        </p:spPr>
      </p:pic>
      <p:pic>
        <p:nvPicPr>
          <p:cNvPr id="3" name="Obraz 2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E1A66A18-C148-7679-BEBA-B1660A43E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256" y="2316891"/>
            <a:ext cx="5605191" cy="38202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10000" y="447120"/>
            <a:ext cx="10571760" cy="97020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pl-PL" sz="4000" b="0" strike="noStrike" spc="-1">
                <a:solidFill>
                  <a:srgbClr val="FEFEFE"/>
                </a:solidFill>
                <a:latin typeface="Century Gothic"/>
                <a:ea typeface="Century Gothic"/>
              </a:rPr>
              <a:t>Aktualny postęp: Interfejs Laboranta</a:t>
            </a:r>
            <a:endParaRPr lang="pl-PL" sz="4000" b="0" strike="noStrike" spc="-1">
              <a:solidFill>
                <a:srgbClr val="FFFFFF"/>
              </a:solidFill>
              <a:latin typeface="Century Gothic"/>
            </a:endParaRPr>
          </a:p>
        </p:txBody>
      </p:sp>
      <p:pic>
        <p:nvPicPr>
          <p:cNvPr id="108" name="Symbol zastępczy zawartości 4" descr="Obraz zawierający tekst, zrzut ekranu, oprogramowanie, Ikona komputerowa&#10;&#10;Zawartość wygenerowana przez AI może być niepoprawna."/>
          <p:cNvPicPr/>
          <p:nvPr/>
        </p:nvPicPr>
        <p:blipFill>
          <a:blip r:embed="rId2"/>
          <a:stretch/>
        </p:blipFill>
        <p:spPr>
          <a:xfrm>
            <a:off x="3421440" y="2020320"/>
            <a:ext cx="6658560" cy="4470840"/>
          </a:xfrm>
          <a:prstGeom prst="rect">
            <a:avLst/>
          </a:prstGeom>
          <a:ln w="0">
            <a:noFill/>
          </a:ln>
          <a:effectLst>
            <a:outerShdw blurRad="50760">
              <a:srgbClr val="000000">
                <a:alpha val="40000"/>
              </a:srgbClr>
            </a:outerShdw>
          </a:effectLst>
        </p:spPr>
      </p:pic>
      <p:pic>
        <p:nvPicPr>
          <p:cNvPr id="109" name="Obraz 108"/>
          <p:cNvPicPr/>
          <p:nvPr/>
        </p:nvPicPr>
        <p:blipFill>
          <a:blip r:embed="rId3"/>
          <a:stretch/>
        </p:blipFill>
        <p:spPr>
          <a:xfrm>
            <a:off x="3421440" y="2036880"/>
            <a:ext cx="6658560" cy="46231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6"/>
          <p:cNvSpPr/>
          <p:nvPr/>
        </p:nvSpPr>
        <p:spPr>
          <a:xfrm>
            <a:off x="0" y="-3240"/>
            <a:ext cx="12191760" cy="52034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5203440"/>
              <a:gd name="textAreaBottom" fmla="*/ 5203800 h 5203440"/>
            </a:gdLst>
            <a:ahLst/>
            <a:cxnLst/>
            <a:rect l="textAreaLeft" t="textAreaTop" r="textAreaRight" b="textAreaBottom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0">
            <a:blip r:embed="rId2"/>
            <a:srcRect/>
            <a:tile tx="0" ty="0" sx="99978" sy="99978" algn="tl"/>
          </a:blipFill>
          <a:ln cap="rnd">
            <a:solidFill>
              <a:srgbClr val="9ECD33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strike="noStrike" spc="-1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111" name="Rectangle 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4200" b="1" strike="noStrike" spc="-1">
                <a:solidFill>
                  <a:schemeClr val="lt1"/>
                </a:solidFill>
                <a:latin typeface="Arial"/>
              </a:rPr>
              <a:t>KONIEC</a:t>
            </a: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-5186520" y="4500000"/>
            <a:ext cx="6086520" cy="4376160"/>
          </a:xfrm>
          <a:prstGeom prst="rect">
            <a:avLst/>
          </a:prstGeom>
          <a:noFill/>
          <a:ln w="0">
            <a:noFill/>
          </a:ln>
          <a:effectLst>
            <a:outerShdw blurRad="50760" rotWithShape="0">
              <a:srgbClr val="000000">
                <a:alpha val="60000"/>
              </a:srgbClr>
            </a:outerShdw>
          </a:effectLst>
        </p:spPr>
        <p:txBody>
          <a:bodyPr anchor="ctr">
            <a:norm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333333"/>
                </a:solidFill>
                <a:latin typeface="Century Gothic"/>
              </a:rPr>
              <a:t>KNOIEC</a:t>
            </a:r>
            <a:endParaRPr lang="pl-PL" sz="1400" b="0" strike="noStrike" spc="-1">
              <a:solidFill>
                <a:srgbClr val="1C1C1C"/>
              </a:solidFill>
              <a:latin typeface="Century Gothic"/>
            </a:endParaRPr>
          </a:p>
        </p:txBody>
      </p:sp>
      <p:cxnSp>
        <p:nvCxnSpPr>
          <p:cNvPr id="113" name="Straight Connector 11"/>
          <p:cNvCxnSpPr/>
          <p:nvPr/>
        </p:nvCxnSpPr>
        <p:spPr>
          <a:xfrm>
            <a:off x="7534440" y="1696680"/>
            <a:ext cx="360" cy="3464640"/>
          </a:xfrm>
          <a:prstGeom prst="straightConnector1">
            <a:avLst/>
          </a:prstGeom>
          <a:ln w="22225" cap="rnd">
            <a:solidFill>
              <a:srgbClr val="9ECD33"/>
            </a:solidFill>
            <a:round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Panoramiczny</PresentationFormat>
  <Slides>9</Slides>
  <Notes>0</Notes>
  <HiddenSlides>0</HiddenSlides>
  <ScaleCrop>false</ScaleCrop>
  <HeadingPairs>
    <vt:vector size="4" baseType="variant">
      <vt:variant>
        <vt:lpstr>Motyw</vt:lpstr>
      </vt:variant>
      <vt:variant>
        <vt:i4>2</vt:i4>
      </vt:variant>
      <vt:variant>
        <vt:lpstr>Tytuły slajdów</vt:lpstr>
      </vt:variant>
      <vt:variant>
        <vt:i4>9</vt:i4>
      </vt:variant>
    </vt:vector>
  </HeadingPairs>
  <TitlesOfParts>
    <vt:vector size="11" baseType="lpstr">
      <vt:lpstr>Quotable</vt:lpstr>
      <vt:lpstr>Quotable</vt:lpstr>
      <vt:lpstr>Aplikacja do dokumentowania wizyt u lekarza i przeglądania historii pacjenta.</vt:lpstr>
      <vt:lpstr>Motywacja:</vt:lpstr>
      <vt:lpstr>Cele:</vt:lpstr>
      <vt:lpstr>Aktualny postęp: Logowanie/Rejestracja</vt:lpstr>
      <vt:lpstr>Aktualny postęp: Interfejs Pacjenta</vt:lpstr>
      <vt:lpstr>Aktualny postęp: Interfejs Pacjenta</vt:lpstr>
      <vt:lpstr>Aktualny postęp: Interfejs Lekarza</vt:lpstr>
      <vt:lpstr>Aktualny postęp: Interfejs Laboranta</vt:lpstr>
      <vt:lpstr>KNOIEC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revision>33</cp:revision>
  <dcterms:created xsi:type="dcterms:W3CDTF">2026-01-12T17:28:21Z</dcterms:created>
  <dcterms:modified xsi:type="dcterms:W3CDTF">2026-01-14T09:42:56Z</dcterms:modified>
  <dc:language>pl-PL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Panoramiczny</vt:lpwstr>
  </property>
  <property fmtid="{D5CDD505-2E9C-101B-9397-08002B2CF9AE}" pid="3" name="Slides">
    <vt:i4>9</vt:i4>
  </property>
</Properties>
</file>